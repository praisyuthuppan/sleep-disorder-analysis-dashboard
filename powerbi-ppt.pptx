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9" r:id="rId2"/>
    <p:sldId id="260" r:id="rId3"/>
    <p:sldId id="261" r:id="rId4"/>
    <p:sldId id="263" r:id="rId5"/>
    <p:sldId id="262" r:id="rId6"/>
    <p:sldId id="256" r:id="rId7"/>
    <p:sldId id="258" r:id="rId8"/>
    <p:sldId id="257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58C8A-6CCA-4D3D-A4BA-53E119215CAE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DA817-869E-4EA4-83A2-0AFDEF112D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315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A817-869E-4EA4-83A2-0AFDEF112DC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233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71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0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52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70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11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774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62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3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240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05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2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317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745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31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186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34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36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7275D-1DA3-4784-86D0-9B52A82552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7F871C-2129-4336-A135-CDD67B3A3C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094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30ADDF-E0AF-57B4-EA19-B9CBA7A6B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1DF99-9DB2-C393-6854-7815053A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84184"/>
            <a:ext cx="10515600" cy="282708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7300" dirty="0">
                <a:solidFill>
                  <a:schemeClr val="bg2"/>
                </a:solidFill>
              </a:rPr>
              <a:t>Sleep Disorder Analysis</a:t>
            </a:r>
            <a:br>
              <a:rPr lang="en-US" sz="8000" dirty="0">
                <a:solidFill>
                  <a:schemeClr val="accent1"/>
                </a:solidFill>
              </a:rPr>
            </a:br>
            <a:br>
              <a:rPr lang="en-US" sz="8000" dirty="0">
                <a:solidFill>
                  <a:schemeClr val="accent1"/>
                </a:solidFill>
              </a:rPr>
            </a:br>
            <a:endParaRPr lang="en-US" sz="2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3B149E-295F-1E0D-F7F5-71B466414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469622"/>
            <a:ext cx="10515600" cy="394283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NAME:PRAISY UTHUPPAN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818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9BED-3574-D84E-779F-2D696245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sleep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9CAA0-10B3-341C-DF0C-97AF4606C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Sleep Disorder?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sleep disorder is a condition that affects a person’s ability to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well on a regular basis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disturbed sleep, fatigue, and reduced daily performance.</a:t>
            </a:r>
          </a:p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Common Types of Sleep Disorders</a:t>
            </a:r>
          </a:p>
          <a:p>
            <a:pPr algn="ctr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Insomnia: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condition where a person has difficulty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falling asleep or staying asleep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often            linked to stress, anxiety, or lifestyle factors.</a:t>
            </a:r>
          </a:p>
          <a:p>
            <a:pPr algn="ctr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Sleep Apnea: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sleep disorder in which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breathing repeatedly stops and starts during sleep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causing poor sleep quality and daytime tiredness.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sleep disorders helps identify factors such as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duration, sleep quality, and stress levels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affect sleep health. Analyzing these patterns through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provide useful insights for improving sleep and overall well-being.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09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6EA6-1969-5E4A-33BF-3ECD7DDD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study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071384-E117-0C04-64A6-865F335015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4458" y="2811592"/>
            <a:ext cx="9781563" cy="226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sleep disorder patterns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data visualization techniques.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the characteristics of individuals with Insomnia and Sleep Apnea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how factors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duration, sleep quality, and stress levels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influence sleep health.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meaningful KPIs and measures using DAX in Power BI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presents sleep-related insights in a clear and visual manner.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help better understand sleep disorders and their impact on daily life.</a:t>
            </a:r>
          </a:p>
        </p:txBody>
      </p:sp>
    </p:spTree>
    <p:extLst>
      <p:ext uri="{BB962C8B-B14F-4D97-AF65-F5344CB8AC3E}">
        <p14:creationId xmlns:p14="http://schemas.microsoft.com/office/powerpoint/2010/main" val="1352321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7116C-692D-AB20-B225-7B3DE2A77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7A4746-F87D-37EF-105A-22B033E9A8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56869" y="2442260"/>
            <a:ext cx="8784264" cy="3002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Sleep Health and Lifestyle Dataset (CSV file) used for Power BI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Format: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CSV (Comma Separated Values).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Rows: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469 records representing individual participants.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of Columns: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 variables describing sleep patterns and lifestyle factors.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Combination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and numerical variables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Variables: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Age, Gender, Occupation, Sleep Duration, Quality of Sleep, Stress Level,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BMI Category, Daily Steps, and Sleep Disorder.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of Data: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sleep patterns and compare individuals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Insomnia and Sleep Apnea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93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E85E-5235-5462-201F-60D993F24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B27E3-8C88-8601-861F-C42FDB85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182" y="2096064"/>
            <a:ext cx="10034375" cy="369513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 identifier for each individual in the dataset.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Indicates whether the individual is male or female.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Age of the individual in years.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Type of job or profession of the individual.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hours the person sleeps per night.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Sleep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Rating of sleep quality on a scale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to 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Level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Stress rating of the individual on a scale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to 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Category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Body weight classification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Normal, Overweight, or Obese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Steps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steps taken per day indicating physical activity level.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Disorder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Indicates whether the person has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Insomnia, Sleep Apnea, or no sleep disorder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59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71E2E4-9A5B-99FE-D103-0A9A00211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2831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Calculated Measures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14A87C-7BA0-1454-D595-8ED9AEA0D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2180"/>
            <a:ext cx="10515600" cy="509478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Sleepduration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-insomnia = CALCULATE(AVERAGE(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SleepDuration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(hours)]),FILTER('SleepDisorder_Dataset','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]="Insomnia"))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Sleepduration-Sleepapnea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CALCULATE(AVERAGE(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SleepDuration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(hours)]),FILTER('SleepDisorder_Dataset','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'[Sleep Disorder]="Sleep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AvgQualitySleep_Insomnia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                                                                                                                                                  CALCULATE(AVERAGE('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'[Quality of Sleep (scale: 1-10)]),FILTER('SleepDisorder_Dataset','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'[Sleep Disorder]="Insomnia"))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AvgQualitySleep_sleepapnea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                                                                                                                                                  CALCULATE(AVERAGE('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'[Quality of Sleep (scale: 1-10)]),FILTER('SleepDisorder_Dataset','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'[Sleep Disorder]=“Sleep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AvgStresslevel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-Insomnia =                                                                                                                                                                   CALCULATE(AVERAGE('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'[Stress Level (scale: 1-10)]),FILTER('SleepDisorder_Dataset','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'[Sleep Disorder]="Insomnia"))</a:t>
            </a:r>
          </a:p>
          <a:p>
            <a:pPr>
              <a:lnSpc>
                <a:spcPct val="150000"/>
              </a:lnSpc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68694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3A415-E7C6-9D97-AB2F-743CB583C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2454"/>
            <a:ext cx="10515600" cy="530450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AvgStresslevel-sleepapnea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                                                                                                                                                                 CALCULATE(AVERAGE('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'[Stress Level (scale: 1-10)]),FILTER('SleepDisorder_Dataset','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'[Sleep Disorder]=“Sleep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"))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 =                                                        CALCULATE(COUNTROWS('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'[Sleep Disorder]=“Sleep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Insominia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 =                                                          CALCULATE(COUNTROWS('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'[Sleep Disorder]="Insomnia")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Insomnia-percentage =                                DIVIDE(CALCULATE(COUNTROWS('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'),FILTER('SleepDisorder_Dataset','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]="Insomnia")), COUNTROWS('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'),0)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-percentage =                                DIVIDE(CALCULATE(COUNTROWS('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'),FILTER('SleepDisorder_Dataset','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'[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]=“Sleep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Apnea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")), COUNTROWS('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SleepDisorder_Dataset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'),0)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497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BB3CC-B427-CC29-3815-7CC61B555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4066"/>
            <a:ext cx="10515600" cy="531289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sz="1400" dirty="0" err="1"/>
              <a:t>Nosleepdisordercount</a:t>
            </a:r>
            <a:r>
              <a:rPr lang="en-IN" sz="1400" dirty="0"/>
              <a:t> =                              CALCULATE(COUNTROWS('</a:t>
            </a:r>
            <a:r>
              <a:rPr lang="en-IN" sz="1400" dirty="0" err="1"/>
              <a:t>SleepDisorder_Dataset</a:t>
            </a:r>
            <a:r>
              <a:rPr lang="en-IN" sz="1400" dirty="0"/>
              <a:t>'),FILTER('SleepDisorder_Dataset','</a:t>
            </a:r>
            <a:r>
              <a:rPr lang="en-IN" sz="1400" dirty="0" err="1"/>
              <a:t>SleepDisorder_Dataset</a:t>
            </a:r>
            <a:r>
              <a:rPr lang="en-IN" sz="1400" dirty="0"/>
              <a:t>'[Sleep Disorder]="None"))</a:t>
            </a:r>
          </a:p>
          <a:p>
            <a:pPr>
              <a:lnSpc>
                <a:spcPct val="150000"/>
              </a:lnSpc>
            </a:pPr>
            <a:r>
              <a:rPr lang="en-IN" sz="1400" dirty="0" err="1"/>
              <a:t>sleepdisorder</a:t>
            </a:r>
            <a:r>
              <a:rPr lang="en-IN" sz="1400" dirty="0"/>
              <a:t> -percentage =                 DIVIDE(CALCULATE(COUNTROWS('</a:t>
            </a:r>
            <a:r>
              <a:rPr lang="en-IN" sz="1400" dirty="0" err="1"/>
              <a:t>SleepDisorder_Dataset</a:t>
            </a:r>
            <a:r>
              <a:rPr lang="en-IN" sz="1400" dirty="0"/>
              <a:t>'),FILTER('SleepDisorder_Dataset','</a:t>
            </a:r>
            <a:r>
              <a:rPr lang="en-IN" sz="1400" dirty="0" err="1"/>
              <a:t>SleepDisorder_Dataset</a:t>
            </a:r>
            <a:r>
              <a:rPr lang="en-IN" sz="1400" dirty="0"/>
              <a:t>'[</a:t>
            </a:r>
            <a:r>
              <a:rPr lang="en-IN" sz="1400" dirty="0" err="1"/>
              <a:t>SleepDisorder</a:t>
            </a:r>
            <a:r>
              <a:rPr lang="en-IN" sz="1400" dirty="0"/>
              <a:t>]&lt;&gt;"None")), COUNTROWS('</a:t>
            </a:r>
            <a:r>
              <a:rPr lang="en-IN" sz="1400" dirty="0" err="1"/>
              <a:t>SleepDisorder_Dataset</a:t>
            </a:r>
            <a:r>
              <a:rPr lang="en-IN" sz="1400" dirty="0"/>
              <a:t>'),0)</a:t>
            </a:r>
          </a:p>
          <a:p>
            <a:pPr>
              <a:lnSpc>
                <a:spcPct val="150000"/>
              </a:lnSpc>
            </a:pPr>
            <a:r>
              <a:rPr lang="en-IN" sz="1400" dirty="0" err="1"/>
              <a:t>sleepdisorder_count</a:t>
            </a:r>
            <a:r>
              <a:rPr lang="en-IN" sz="1400" dirty="0"/>
              <a:t> =                                     CALCULATE(COUNTROWS('</a:t>
            </a:r>
            <a:r>
              <a:rPr lang="en-IN" sz="1400" dirty="0" err="1"/>
              <a:t>SleepDisorder_Dataset</a:t>
            </a:r>
            <a:r>
              <a:rPr lang="en-IN" sz="1400" dirty="0"/>
              <a:t>'),FILTER('SleepDisorder_Dataset','</a:t>
            </a:r>
            <a:r>
              <a:rPr lang="en-IN" sz="1400" dirty="0" err="1"/>
              <a:t>SleepDisorder_Dataset</a:t>
            </a:r>
            <a:r>
              <a:rPr lang="en-IN" sz="1400" dirty="0"/>
              <a:t>'[Sleep Disorder] &lt;&gt; "None"))</a:t>
            </a:r>
          </a:p>
          <a:p>
            <a:pPr>
              <a:lnSpc>
                <a:spcPct val="150000"/>
              </a:lnSpc>
            </a:pPr>
            <a:r>
              <a:rPr lang="en-IN" sz="1400" dirty="0" err="1"/>
              <a:t>SleepScore</a:t>
            </a:r>
            <a:r>
              <a:rPr lang="en-IN" sz="1400" dirty="0"/>
              <a:t>-Insomnia =                                                                                                                      AVERAGEX(FILTER('SleepDisorder_Dataset','</a:t>
            </a:r>
            <a:r>
              <a:rPr lang="en-IN" sz="1400" dirty="0" err="1"/>
              <a:t>SleepDisorder_Dataset</a:t>
            </a:r>
            <a:r>
              <a:rPr lang="en-IN" sz="1400" dirty="0"/>
              <a:t>'[Sleep Disorder]="Insomnia"),(('</a:t>
            </a:r>
            <a:r>
              <a:rPr lang="en-IN" sz="1400" dirty="0" err="1"/>
              <a:t>SleepDisorder_Dataset</a:t>
            </a:r>
            <a:r>
              <a:rPr lang="en-IN" sz="1400" dirty="0"/>
              <a:t>'[Sleep Duration (hours)]/8*40)+('</a:t>
            </a:r>
            <a:r>
              <a:rPr lang="en-IN" sz="1400" dirty="0" err="1"/>
              <a:t>SleepDisorder_Dataset</a:t>
            </a:r>
            <a:r>
              <a:rPr lang="en-IN" sz="1400" dirty="0"/>
              <a:t>'[Quality of Sleep (scale: 1-10)]/10*40)+((10- '</a:t>
            </a:r>
            <a:r>
              <a:rPr lang="en-IN" sz="1400" dirty="0" err="1"/>
              <a:t>SleepDisorder_Dataset</a:t>
            </a:r>
            <a:r>
              <a:rPr lang="en-IN" sz="1400" dirty="0"/>
              <a:t>'[Stress Level (scale: 1-10)]/10*20))))</a:t>
            </a:r>
          </a:p>
          <a:p>
            <a:pPr>
              <a:lnSpc>
                <a:spcPct val="150000"/>
              </a:lnSpc>
            </a:pPr>
            <a:r>
              <a:rPr lang="en-IN" sz="1400" dirty="0" err="1"/>
              <a:t>SleepScore-Sleepapnea</a:t>
            </a:r>
            <a:r>
              <a:rPr lang="en-IN" sz="1400" dirty="0"/>
              <a:t> =                                                                                                                 AVERAGEX(FILTER('SleepDisorder_Dataset','</a:t>
            </a:r>
            <a:r>
              <a:rPr lang="en-IN" sz="1400" dirty="0" err="1"/>
              <a:t>SleepDisorder_Dataset</a:t>
            </a:r>
            <a:r>
              <a:rPr lang="en-IN" sz="1400" dirty="0"/>
              <a:t>'[Sleep Disorder]=“Sleep </a:t>
            </a:r>
            <a:r>
              <a:rPr lang="en-IN" sz="1400" dirty="0" err="1"/>
              <a:t>Apnea</a:t>
            </a:r>
            <a:r>
              <a:rPr lang="en-IN" sz="1400" dirty="0"/>
              <a:t>"),(('</a:t>
            </a:r>
            <a:r>
              <a:rPr lang="en-IN" sz="1400" dirty="0" err="1"/>
              <a:t>SleepDisorder_Dataset</a:t>
            </a:r>
            <a:r>
              <a:rPr lang="en-IN" sz="1400" dirty="0"/>
              <a:t>'[Sleep Duration (hours)]/8*40)+('</a:t>
            </a:r>
            <a:r>
              <a:rPr lang="en-IN" sz="1400" dirty="0" err="1"/>
              <a:t>SleepDisorder_Dataset</a:t>
            </a:r>
            <a:r>
              <a:rPr lang="en-IN" sz="1400" dirty="0"/>
              <a:t>'[Quality of Sleep (scale: 1-10)]/10*40)+((10- '</a:t>
            </a:r>
            <a:r>
              <a:rPr lang="en-IN" sz="1400" dirty="0" err="1"/>
              <a:t>SleepDisorder_Dataset</a:t>
            </a:r>
            <a:r>
              <a:rPr lang="en-IN" sz="1400" dirty="0"/>
              <a:t>'[Stress Level (scale: 1-10)]/10*20))))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04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0322-7D54-D3F9-A86B-BAB278D2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1FE28-395B-F568-7181-57B99561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insomnia tend to have shorter sleep duration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difficulty in falling or staying asleep, while those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apnea may have slightly longer sleep duration but disturbed sleep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breathing interruptions.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quality is generally lower among insomnia patients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whereas sleep apnea patients may report moderate sleep quality but still experience interrupted sleep.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levels are higher among individuals with insomnia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psychological factors play an important role in this disorder, while sleep apnea shows comparatively lower stress association.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sleep apnea is observed more frequently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older individuals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insomnia occurs across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range of age groups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analysis shows that insomnia tends to be slightly more common among females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apnea is more frequently observed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among females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644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33CD1-55DA-68DB-6985-ED68075F1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category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sleep apnea is more common among individuals who are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overweight or obese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that body weight significantly influences this condition.</a:t>
            </a:r>
          </a:p>
          <a:p>
            <a:pPr algn="just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physical activity (measured through daily steps)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that individuals with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activity levels are more likely to experience sleep disorders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sleep apnea.</a:t>
            </a:r>
          </a:p>
          <a:p>
            <a:pPr algn="just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 also plays a role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individuals in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high-stress or sedentary occupations such as office workers tend to experience more insomnia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sleep apnea may be associated with lifestyle and health conditions linked to certain occupations.</a:t>
            </a:r>
          </a:p>
          <a:p>
            <a:pPr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analysis suggests that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insomnia is mainly influenced by psychological and lifestyle factors such as stress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apnea is more closely related to physical health factors such as age, BMI, and physical activity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6736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5A44C-007C-8C54-F231-DA8CDF5A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score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6F7497-2923-CE07-92ED-4B6C5B1843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811592"/>
            <a:ext cx="10799238" cy="226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Score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used to measure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sleep health of individuals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calculated using important factors such 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duration, sleep quality, and stress level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sleep score indicates better and healthier sleep patterns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Individuals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insomnia tend to have lower sleep scores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due to poor sleep quality and shorter sleep duration.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People with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sleep apnea may have moderate sleep scores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their sleep is often disturbed because of breathing interruptions.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comparison helps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clearly understand the difference in sleep health between insomnia and sleep apnea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9407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C6E1A-9387-9A0D-F688-4FC6D5817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DC6A3-EF8F-83EF-2320-8C3D2EF20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utilized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data visualization techniques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sleep disorder patterns and compare individuals with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insomnia and sleep apnea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indicates that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insomnia is strongly associated with higher stress levels and reduced sleep quality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affecting overall sleep satisfaction.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apnea is more closely linked to physical health factors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BMI and increasing age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and demographic factors such as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duration, physical activity, gender, and occupation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influence sleep health.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interactive dashboard provides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and meaningful insights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easier to understand the differences between the two sleep disorders.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study demonstrates how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can support better understanding of sleep health and related risk factors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2323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1E55-0D29-E450-BDC7-C6ED3E75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01066B-DDCF-9263-3404-3160505886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257593"/>
            <a:ext cx="10353761" cy="3372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studies can include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diverse datasets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gain deeper insights into sleep disorders.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health variables such 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 rate, medical history, and lifestyle habits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incorporated for more detailed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analytical techniques such 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modeling and machine learning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applied to predict sleep disorder risks.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can be further improved by adding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interactive visualizations and filters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exploration of data.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analysis can support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professionals in identifying sleep-related issues and promoting better sleep health awareness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5904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76EAD7-502E-DCB6-A738-D6B9AE7B870F}"/>
              </a:ext>
            </a:extLst>
          </p:cNvPr>
          <p:cNvSpPr txBox="1"/>
          <p:nvPr/>
        </p:nvSpPr>
        <p:spPr>
          <a:xfrm>
            <a:off x="1526796" y="3082738"/>
            <a:ext cx="91754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84838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1104</TotalTime>
  <Words>1604</Words>
  <Application>Microsoft Office PowerPoint</Application>
  <PresentationFormat>Widescreen</PresentationFormat>
  <Paragraphs>84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Bookman Old Style</vt:lpstr>
      <vt:lpstr>Rockwell</vt:lpstr>
      <vt:lpstr>Times New Roman</vt:lpstr>
      <vt:lpstr>Damask</vt:lpstr>
      <vt:lpstr>Sleep Disorder Analysis  </vt:lpstr>
      <vt:lpstr>Introduction to sleep disorder</vt:lpstr>
      <vt:lpstr>Objectives of the study</vt:lpstr>
      <vt:lpstr>Data Overview</vt:lpstr>
      <vt:lpstr>Data Description</vt:lpstr>
      <vt:lpstr>Calculated Measures </vt:lpstr>
      <vt:lpstr>PowerPoint Presentation</vt:lpstr>
      <vt:lpstr>PowerPoint Presentation</vt:lpstr>
      <vt:lpstr>Key findings</vt:lpstr>
      <vt:lpstr>PowerPoint Presentation</vt:lpstr>
      <vt:lpstr>Sleep score analysis</vt:lpstr>
      <vt:lpstr>conclusion</vt:lpstr>
      <vt:lpstr>Future recommendation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praisy uthuppan</dc:creator>
  <cp:lastModifiedBy>praisy uthuppan</cp:lastModifiedBy>
  <cp:revision>3</cp:revision>
  <dcterms:created xsi:type="dcterms:W3CDTF">2026-03-11T13:38:58Z</dcterms:created>
  <dcterms:modified xsi:type="dcterms:W3CDTF">2026-04-18T07:48:54Z</dcterms:modified>
</cp:coreProperties>
</file>